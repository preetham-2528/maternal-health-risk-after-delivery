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66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9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94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8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3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98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0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9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0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762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080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239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66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862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08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39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78C4-5CAA-4431-F9F1-C3957830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1BB9-15FD-0429-F9B8-35F24996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10E3-BD96-5CAB-5EBC-7A7F5D2C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4E89-5968-C748-27F5-D3A43ACB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3CE9-430B-21F5-BCB2-99DE4A8F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0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E7A24AD-A294-469C-A8A0-D29B2F7DC380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EDD2F72-968D-40B7-A160-4A2306D89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31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mmWr/preview/mmwrhtml/ss5304a1.htm" TargetMode="External"/><Relationship Id="rId2" Type="http://schemas.openxmlformats.org/officeDocument/2006/relationships/hyperlink" Target="https://www.liebertpub.com/doi/abs/10.1089/jwh.2015.5260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pmc.ncbi.nlm.nih.gov/articles/PMC1198879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AEA7-DBC6-7FC7-57BD-8223A6B02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174393"/>
            <a:ext cx="8689976" cy="2509213"/>
          </a:xfrm>
        </p:spPr>
        <p:txBody>
          <a:bodyPr/>
          <a:lstStyle/>
          <a:p>
            <a:r>
              <a:rPr lang="en-US" dirty="0"/>
              <a:t>Predicting Maternal Health Risk After Delivery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50AE2-50B4-F291-A8F1-FF3093220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958" y="4023358"/>
            <a:ext cx="4290060" cy="266700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Roshan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Pampari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PreethaM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Thatikonda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Sarvagna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KoTTE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Yogendra Kodali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Pavan Kumar Etta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27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FB55-BFC0-2A89-C3F8-3717FB0A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Motivation and 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91D3-899F-73F2-E920-9F54D60C1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950721"/>
            <a:ext cx="10364452" cy="38404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Motivation:</a:t>
            </a:r>
            <a:r>
              <a:rPr lang="en-US" dirty="0"/>
              <a:t> </a:t>
            </a:r>
          </a:p>
          <a:p>
            <a:r>
              <a:rPr lang="en-US" dirty="0"/>
              <a:t>Maternal health is crucial for reducing post-delivery complications.</a:t>
            </a:r>
          </a:p>
          <a:p>
            <a:r>
              <a:rPr lang="en-US" dirty="0"/>
              <a:t>Early risk prediction can guide timely medical interventions, improving outcomes.</a:t>
            </a:r>
          </a:p>
          <a:p>
            <a:pPr marL="0" indent="0">
              <a:buNone/>
            </a:pPr>
            <a:r>
              <a:rPr lang="en-US" b="1" dirty="0"/>
              <a:t>Objective:</a:t>
            </a:r>
          </a:p>
          <a:p>
            <a:r>
              <a:rPr lang="en-US" dirty="0"/>
              <a:t>Predict the risk level (high, mid, low) of women after delivery using health indicators.</a:t>
            </a:r>
          </a:p>
          <a:p>
            <a:r>
              <a:rPr lang="en-US" dirty="0"/>
              <a:t>Develop a reliable model to assist healthcare providers in prioritizing care.</a:t>
            </a:r>
          </a:p>
          <a:p>
            <a:pPr marL="0" indent="0">
              <a:buNone/>
            </a:pPr>
            <a:r>
              <a:rPr lang="en-US" b="1" dirty="0"/>
              <a:t>How:</a:t>
            </a:r>
            <a:r>
              <a:rPr lang="en-US" dirty="0"/>
              <a:t> </a:t>
            </a:r>
          </a:p>
          <a:p>
            <a:r>
              <a:rPr lang="en-US" dirty="0"/>
              <a:t>Applied data mining techniques on a clinical dataset with various physiological features.</a:t>
            </a:r>
          </a:p>
          <a:p>
            <a:r>
              <a:rPr lang="en-US" dirty="0"/>
              <a:t>Focused on interpretable models to ensure clinical applicability.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64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38F7-E3E4-08FC-9744-77FDBDEA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About the Dataset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12795-F98A-F3A2-F910-2B1E82B4C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896083"/>
            <a:ext cx="10364452" cy="4343400"/>
          </a:xfrm>
        </p:spPr>
        <p:txBody>
          <a:bodyPr>
            <a:noAutofit/>
          </a:bodyPr>
          <a:lstStyle/>
          <a:p>
            <a:pPr rtl="0"/>
            <a:r>
              <a:rPr lang="en-US" sz="1600" b="1" dirty="0"/>
              <a:t>Source:</a:t>
            </a:r>
            <a:r>
              <a:rPr lang="en-US" sz="1600" dirty="0"/>
              <a:t> Public dataset on maternal health risk (e.g., UCI Machine Learning Repository)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Attributes: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Systolic &amp; Diastolic Blood Pressure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Blood Sugar (BS)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Body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Heart Rate</a:t>
            </a:r>
          </a:p>
          <a:p>
            <a:pPr marL="742950" lvl="1" indent="-285750"/>
            <a:r>
              <a:rPr lang="en-US" sz="1600" dirty="0" err="1"/>
              <a:t>RiskLevel</a:t>
            </a:r>
            <a:r>
              <a:rPr lang="en-US" sz="1600" dirty="0"/>
              <a:t> (</a:t>
            </a:r>
            <a:r>
              <a:rPr lang="en-IN" sz="1600" dirty="0"/>
              <a:t>Target: High, Mid, Low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Instances:</a:t>
            </a:r>
            <a:r>
              <a:rPr lang="en-US" sz="1600" dirty="0"/>
              <a:t> 1014 Rows</a:t>
            </a:r>
          </a:p>
          <a:p>
            <a:pPr rtl="0"/>
            <a:r>
              <a:rPr lang="en-US" sz="1600" b="1" dirty="0"/>
              <a:t>No missing values</a:t>
            </a:r>
            <a:r>
              <a:rPr lang="en-US" sz="1600" dirty="0"/>
              <a:t>: Ensured data integrity for robust analysis.</a:t>
            </a:r>
          </a:p>
        </p:txBody>
      </p:sp>
    </p:spTree>
    <p:extLst>
      <p:ext uri="{BB962C8B-B14F-4D97-AF65-F5344CB8AC3E}">
        <p14:creationId xmlns:p14="http://schemas.microsoft.com/office/powerpoint/2010/main" val="267315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ABFC-E3E0-D2AD-49C8-63EB1427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01204"/>
            <a:ext cx="10364451" cy="1596177"/>
          </a:xfrm>
        </p:spPr>
        <p:txBody>
          <a:bodyPr/>
          <a:lstStyle/>
          <a:p>
            <a:r>
              <a:rPr lang="en-IN" b="1" dirty="0"/>
              <a:t>Preprocessing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A827-64BC-E349-AF93-99EB2A4DF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547185"/>
            <a:ext cx="10364451" cy="4632960"/>
          </a:xfrm>
        </p:spPr>
        <p:txBody>
          <a:bodyPr>
            <a:normAutofit fontScale="92500" lnSpcReduction="20000"/>
          </a:bodyPr>
          <a:lstStyle/>
          <a:p>
            <a:pPr rtl="0">
              <a:buNone/>
            </a:pPr>
            <a:r>
              <a:rPr lang="en-US" sz="2000" b="1" dirty="0"/>
              <a:t>Data Cleaning</a:t>
            </a:r>
            <a:r>
              <a:rPr lang="en-US" sz="20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/>
              <a:t>No null values found.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/>
              <a:t>Verified feature ranges for clinical relevance (e.g., Blood Pressure within 90–180 mmHg, Heart Rate 60–100 bpm).</a:t>
            </a:r>
          </a:p>
          <a:p>
            <a:pPr rtl="0">
              <a:buNone/>
            </a:pPr>
            <a:r>
              <a:rPr lang="en-US" sz="2000" b="1" dirty="0"/>
              <a:t>Exploratory Analysis</a:t>
            </a:r>
            <a:r>
              <a:rPr lang="en-US" sz="20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/>
              <a:t>Visualized all features using bar plots and correlation heatmaps to identify relationships.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/>
              <a:t>Key observation: Based on correlation matrix, </a:t>
            </a:r>
            <a:r>
              <a:rPr lang="en-US" sz="2000" dirty="0" err="1"/>
              <a:t>systolicBP</a:t>
            </a:r>
            <a:r>
              <a:rPr lang="en-US" sz="2000" dirty="0"/>
              <a:t> and </a:t>
            </a:r>
            <a:r>
              <a:rPr lang="en-US" sz="2000" dirty="0" err="1"/>
              <a:t>diastolicbp</a:t>
            </a:r>
            <a:r>
              <a:rPr lang="en-US" dirty="0"/>
              <a:t> have high correlation</a:t>
            </a:r>
            <a:r>
              <a:rPr lang="en-US" sz="2000" dirty="0"/>
              <a:t>.</a:t>
            </a:r>
          </a:p>
          <a:p>
            <a:pPr rtl="0">
              <a:buNone/>
            </a:pPr>
            <a:r>
              <a:rPr lang="en-US" sz="2000" b="1" dirty="0"/>
              <a:t>Conversion</a:t>
            </a:r>
            <a:r>
              <a:rPr lang="en-US" sz="20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 err="1"/>
              <a:t>RiskLevel</a:t>
            </a:r>
            <a:r>
              <a:rPr lang="en-US" sz="2000" dirty="0"/>
              <a:t> converted to a factor with 3 classes for classification.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/>
              <a:t>Normalized numerical features to ensure model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323901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605C-7209-EABF-5489-01AF6253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26687"/>
            <a:ext cx="10364451" cy="1596177"/>
          </a:xfrm>
        </p:spPr>
        <p:txBody>
          <a:bodyPr/>
          <a:lstStyle/>
          <a:p>
            <a:r>
              <a:rPr lang="en-IN" b="1" dirty="0"/>
              <a:t>Proposed Techniques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4865-FE6F-BD67-AA44-D4703AC61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473092"/>
            <a:ext cx="10600045" cy="4876800"/>
          </a:xfrm>
        </p:spPr>
        <p:txBody>
          <a:bodyPr>
            <a:normAutofit fontScale="70000" lnSpcReduction="20000"/>
          </a:bodyPr>
          <a:lstStyle/>
          <a:p>
            <a:pPr rtl="0">
              <a:buNone/>
            </a:pPr>
            <a:r>
              <a:rPr lang="en-IN" sz="2900" b="1" dirty="0"/>
              <a:t>Model Selection Rationale</a:t>
            </a:r>
            <a:r>
              <a:rPr lang="en-IN" sz="29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b="1" dirty="0"/>
              <a:t>Random Forest</a:t>
            </a:r>
            <a:r>
              <a:rPr lang="en-IN" sz="2900" dirty="0"/>
              <a:t>: Handles overfitting better than single trees, good for tabular data, robust to noise.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b="1" dirty="0"/>
              <a:t>Logistic Regression</a:t>
            </a:r>
            <a:r>
              <a:rPr lang="en-IN" sz="2900" dirty="0"/>
              <a:t>: Baseline model for classification, interpretable coefficients, handles multiclass via one-vs-rest.</a:t>
            </a:r>
          </a:p>
          <a:p>
            <a:pPr rtl="0">
              <a:buNone/>
            </a:pPr>
            <a:r>
              <a:rPr lang="en-IN" sz="2900" b="1" dirty="0"/>
              <a:t>Evaluation Metrics</a:t>
            </a:r>
            <a:r>
              <a:rPr lang="en-IN" sz="29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b="1" dirty="0"/>
              <a:t>Accuracy</a:t>
            </a:r>
            <a:r>
              <a:rPr lang="en-IN" sz="2900" dirty="0"/>
              <a:t>: Overall model performance.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b="1" dirty="0"/>
              <a:t>Confusion Matrix</a:t>
            </a:r>
            <a:r>
              <a:rPr lang="en-IN" sz="2900" dirty="0"/>
              <a:t>: Assesses performance across high, mid, low risk classes.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b="1" dirty="0"/>
              <a:t>ROC Curve</a:t>
            </a:r>
            <a:r>
              <a:rPr lang="en-IN" sz="2900" dirty="0"/>
              <a:t>: One-vs-all for multiclass to evaluate model discrimination.</a:t>
            </a:r>
          </a:p>
          <a:p>
            <a:pPr rtl="0">
              <a:buNone/>
            </a:pPr>
            <a:r>
              <a:rPr lang="en-IN" sz="2900" b="1" dirty="0"/>
              <a:t>Cross-Validation</a:t>
            </a:r>
            <a:r>
              <a:rPr lang="en-IN" sz="29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2900" dirty="0"/>
              <a:t>Used 5-fold cross-validation to ensure robust model evaluation.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51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D08E-1027-D121-BAA3-359D81B6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6281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Model 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32D9-0C66-2C0E-A6D9-145CB35FB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07" y="1492886"/>
            <a:ext cx="10364452" cy="34241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Models Tried:</a:t>
            </a:r>
            <a:r>
              <a:rPr lang="en-US" dirty="0"/>
              <a:t> Random Forest and 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Best Performing Model:</a:t>
            </a:r>
            <a:r>
              <a:rPr lang="en-US" dirty="0"/>
              <a:t> Random Forest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Accuracy:</a:t>
            </a: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5A0776-3025-BBE8-C9FC-8D9E8F6F9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43354"/>
              </p:ext>
            </p:extLst>
          </p:nvPr>
        </p:nvGraphicFramePr>
        <p:xfrm>
          <a:off x="1761123" y="3731179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919">
                  <a:extLst>
                    <a:ext uri="{9D8B030D-6E8A-4147-A177-3AD203B41FA5}">
                      <a16:colId xmlns:a16="http://schemas.microsoft.com/office/drawing/2014/main" val="817410524"/>
                    </a:ext>
                  </a:extLst>
                </a:gridCol>
                <a:gridCol w="2625747">
                  <a:extLst>
                    <a:ext uri="{9D8B030D-6E8A-4147-A177-3AD203B41FA5}">
                      <a16:colId xmlns:a16="http://schemas.microsoft.com/office/drawing/2014/main" val="30859030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87415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80/20 Split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50/50 Split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46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84.65 %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80.27 %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72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62.87 %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63.7 %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31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726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64B6-BA18-0607-2520-D003E5B6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733628"/>
          </a:xfrm>
        </p:spPr>
        <p:txBody>
          <a:bodyPr/>
          <a:lstStyle/>
          <a:p>
            <a:r>
              <a:rPr lang="en-IN" b="1" dirty="0"/>
              <a:t>Random Forest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CFB-5CA7-A605-DB49-CB11B8A4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3" y="819690"/>
            <a:ext cx="10364452" cy="603831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Confusion Matrix: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80/20 Split						50/50 Split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D26D9341-48F6-50CA-F67B-9DE0C40A5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175" y="2121207"/>
            <a:ext cx="3730977" cy="2411944"/>
          </a:xfrm>
          <a:prstGeom prst="rect">
            <a:avLst/>
          </a:prstGeom>
        </p:spPr>
      </p:pic>
      <p:pic>
        <p:nvPicPr>
          <p:cNvPr id="8" name="Picture 7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91967FA1-65F5-B9C1-0BDC-7BC83CB27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79" y="1971526"/>
            <a:ext cx="3925318" cy="25494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A65E1A-DB47-995C-1694-7F9954DBD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9" y="5015854"/>
            <a:ext cx="6076950" cy="885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ACB5F7-171E-F644-656F-5B7D83BB8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00" y="5015854"/>
            <a:ext cx="59626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2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816EDC-1BF4-1CD0-2F85-82644283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733628"/>
          </a:xfrm>
        </p:spPr>
        <p:txBody>
          <a:bodyPr/>
          <a:lstStyle/>
          <a:p>
            <a:r>
              <a:rPr lang="en-IN" b="1" dirty="0"/>
              <a:t>Logistic regression Results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9AF7ED-CC75-5B61-DD54-05784F3CD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3" y="819690"/>
            <a:ext cx="10364452" cy="603831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Confusion Matrix: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80/20 Split						50/50 Split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94D969-4F18-FD6D-818E-8B496B09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86" y="1845858"/>
            <a:ext cx="4137909" cy="26872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E96D78-239A-D292-D2A6-7D6A00921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842" y="1807929"/>
            <a:ext cx="4137909" cy="27252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E3EECF-5F72-5E0E-A8EE-05AA13AE6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5" y="5082529"/>
            <a:ext cx="5886450" cy="7905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A6AB72-ECB8-BB73-079F-8AAA85EC1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033" y="5025379"/>
            <a:ext cx="58864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59C9-AE28-41D6-12D2-4DBA4345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"/>
            <a:ext cx="10364451" cy="1095270"/>
          </a:xfrm>
        </p:spPr>
        <p:txBody>
          <a:bodyPr/>
          <a:lstStyle/>
          <a:p>
            <a:r>
              <a:rPr lang="en-US" dirty="0"/>
              <a:t>Random forest roc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E78BA9-F053-0491-BB64-8D73DD67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847" y="1916854"/>
            <a:ext cx="5185979" cy="37823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8335B3-CE4A-AC91-3FAC-C3DDE2D8A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284" y="1916854"/>
            <a:ext cx="5008681" cy="378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70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426299-EA61-C0E8-5CB2-4073148E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"/>
            <a:ext cx="10364451" cy="1095270"/>
          </a:xfrm>
        </p:spPr>
        <p:txBody>
          <a:bodyPr/>
          <a:lstStyle/>
          <a:p>
            <a:r>
              <a:rPr lang="en-US" dirty="0"/>
              <a:t>LOGISTIC REGRESSION roc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7033BBA-70CB-9CD7-AB67-3167CA132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14" y="1916854"/>
            <a:ext cx="5045603" cy="378236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EC570A-6B8F-408D-58F3-31A59E1B9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285" y="1973688"/>
            <a:ext cx="5045604" cy="37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4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929A-5B65-18BB-8F7D-966C1B59C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702337"/>
            <a:ext cx="10364451" cy="9969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Practical Implications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9D23-4BF0-FB24-EF7C-29D193EEF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857984"/>
            <a:ext cx="10364452" cy="4404359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1800" b="1" dirty="0"/>
              <a:t>Real-World Application</a:t>
            </a:r>
            <a:r>
              <a:rPr lang="en-US" sz="18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Model can assist doctors in prioritizing high-risk patients for monitoring or intervention.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Interpretable decision tree rules can be integrated into clinical decision support systems.</a:t>
            </a:r>
          </a:p>
          <a:p>
            <a:pPr rtl="0">
              <a:buNone/>
            </a:pPr>
            <a:r>
              <a:rPr lang="en-US" sz="1800" b="1" dirty="0"/>
              <a:t>Ethical Considerations</a:t>
            </a:r>
            <a:r>
              <a:rPr lang="en-US" sz="18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Ensure model fairness across age groups to avoid biased predictions.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Address imbalanced data to prevent underpredicting high-risk cases.</a:t>
            </a:r>
          </a:p>
          <a:p>
            <a:pPr rtl="0">
              <a:buNone/>
            </a:pPr>
            <a:r>
              <a:rPr lang="en-US" sz="1800" b="1" dirty="0"/>
              <a:t>Future Deployment</a:t>
            </a:r>
            <a:r>
              <a:rPr lang="en-US" sz="18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Integrate with electronic health records for real-time risk assessment.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800" dirty="0"/>
              <a:t>Validate model on diverse populations to enhance generalizability.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5212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556F-F055-D607-A578-E4C7B088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Discussion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33985-61DC-686C-CBFA-A5FE8EEA2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Built and evaluated a decision tree to classify maternal risk.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Clean dataset with interpretable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Findings: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Certain features like BP and Heart Rate significantly affect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Limitations: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 size may limit generalizability.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Imbalanced classes may affect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Proud Moment:</a:t>
            </a:r>
            <a:r>
              <a:rPr lang="en-US" sz="2400" dirty="0"/>
              <a:t> Successfully implemented a medical application using data mining.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1936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9874-48EC-9F0D-F0B7-22D687EC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refefrences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784D-0D98-D64C-8916-AD44EED0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hlinkClick r:id="rId2"/>
              </a:rPr>
              <a:t>https://www.liebertpub.com/doi/abs/10.1089/jwh.2015.5260</a:t>
            </a:r>
            <a:endParaRPr lang="en-IN" sz="2400" dirty="0"/>
          </a:p>
          <a:p>
            <a:r>
              <a:rPr lang="en-IN" sz="2400" dirty="0">
                <a:hlinkClick r:id="rId3"/>
              </a:rPr>
              <a:t>https://www.cdc.gov/mmWr/preview/mmwrhtml/ss5304a1.htm</a:t>
            </a:r>
            <a:endParaRPr lang="en-IN" sz="2400" dirty="0"/>
          </a:p>
          <a:p>
            <a:r>
              <a:rPr lang="en-IN" sz="2400" dirty="0">
                <a:hlinkClick r:id="rId4"/>
              </a:rPr>
              <a:t>https://pmc.ncbi.nlm.nih.gov/articles/PMC11988796/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877447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197</TotalTime>
  <Words>604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Droplet</vt:lpstr>
      <vt:lpstr>Predicting Maternal Health Risk After Delivery </vt:lpstr>
      <vt:lpstr>Motivation and Objective </vt:lpstr>
      <vt:lpstr>About the Dataset </vt:lpstr>
      <vt:lpstr>Preprocessing Insights </vt:lpstr>
      <vt:lpstr>Proposed Techniques </vt:lpstr>
      <vt:lpstr>Model Results </vt:lpstr>
      <vt:lpstr>Random Forest Results</vt:lpstr>
      <vt:lpstr>Logistic regression Results</vt:lpstr>
      <vt:lpstr>Random forest roc</vt:lpstr>
      <vt:lpstr>LOGISTIC REGRESSION roc</vt:lpstr>
      <vt:lpstr>Practical Implications </vt:lpstr>
      <vt:lpstr>Conclusion &amp; Discussion </vt:lpstr>
      <vt:lpstr>refefrences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sweetykotte996@gmail.com</dc:creator>
  <cp:lastModifiedBy>Roshan Pampari</cp:lastModifiedBy>
  <cp:revision>9</cp:revision>
  <dcterms:created xsi:type="dcterms:W3CDTF">2025-04-21T23:02:46Z</dcterms:created>
  <dcterms:modified xsi:type="dcterms:W3CDTF">2025-04-24T01:24:45Z</dcterms:modified>
</cp:coreProperties>
</file>